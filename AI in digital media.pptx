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Catchy Mager" charset="1" panose="02000506000000020004"/>
      <p:regular r:id="rId15"/>
    </p:embeddedFont>
    <p:embeddedFont>
      <p:font typeface="HK Grotesk Light" charset="1" panose="00000400000000000000"/>
      <p:regular r:id="rId16"/>
    </p:embeddedFont>
    <p:embeddedFont>
      <p:font typeface="HK Grotesk Bold" charset="1" panose="000008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611225" y="6787402"/>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666750" y="666750"/>
            <a:ext cx="7866877" cy="8953500"/>
            <a:chOff x="0" y="0"/>
            <a:chExt cx="1218785" cy="1387131"/>
          </a:xfrm>
        </p:grpSpPr>
        <p:sp>
          <p:nvSpPr>
            <p:cNvPr name="Freeform 4" id="4"/>
            <p:cNvSpPr/>
            <p:nvPr/>
          </p:nvSpPr>
          <p:spPr>
            <a:xfrm flipH="false" flipV="false" rot="0">
              <a:off x="0" y="0"/>
              <a:ext cx="1218785" cy="1387131"/>
            </a:xfrm>
            <a:custGeom>
              <a:avLst/>
              <a:gdLst/>
              <a:ahLst/>
              <a:cxnLst/>
              <a:rect r="r" b="b" t="t" l="l"/>
              <a:pathLst>
                <a:path h="1387131" w="1218785">
                  <a:moveTo>
                    <a:pt x="39365" y="0"/>
                  </a:moveTo>
                  <a:lnTo>
                    <a:pt x="1179420" y="0"/>
                  </a:lnTo>
                  <a:cubicBezTo>
                    <a:pt x="1201161" y="0"/>
                    <a:pt x="1218785" y="17624"/>
                    <a:pt x="1218785" y="39365"/>
                  </a:cubicBezTo>
                  <a:lnTo>
                    <a:pt x="1218785" y="1347767"/>
                  </a:lnTo>
                  <a:cubicBezTo>
                    <a:pt x="1218785" y="1358207"/>
                    <a:pt x="1214638" y="1368219"/>
                    <a:pt x="1207255" y="1375602"/>
                  </a:cubicBezTo>
                  <a:cubicBezTo>
                    <a:pt x="1199873" y="1382984"/>
                    <a:pt x="1189861" y="1387131"/>
                    <a:pt x="1179420" y="1387131"/>
                  </a:cubicBezTo>
                  <a:lnTo>
                    <a:pt x="39365" y="1387131"/>
                  </a:lnTo>
                  <a:cubicBezTo>
                    <a:pt x="28924" y="1387131"/>
                    <a:pt x="18912" y="1382984"/>
                    <a:pt x="11530" y="1375602"/>
                  </a:cubicBezTo>
                  <a:cubicBezTo>
                    <a:pt x="4147" y="1368219"/>
                    <a:pt x="0" y="1358207"/>
                    <a:pt x="0" y="1347767"/>
                  </a:cubicBezTo>
                  <a:lnTo>
                    <a:pt x="0" y="39365"/>
                  </a:lnTo>
                  <a:cubicBezTo>
                    <a:pt x="0" y="28924"/>
                    <a:pt x="4147" y="18912"/>
                    <a:pt x="11530" y="11530"/>
                  </a:cubicBezTo>
                  <a:cubicBezTo>
                    <a:pt x="18912" y="4147"/>
                    <a:pt x="28924" y="0"/>
                    <a:pt x="39365" y="0"/>
                  </a:cubicBezTo>
                  <a:close/>
                </a:path>
              </a:pathLst>
            </a:custGeom>
            <a:blipFill>
              <a:blip r:embed="rId4"/>
              <a:stretch>
                <a:fillRect l="-4630" t="0" r="-4630" b="0"/>
              </a:stretch>
            </a:blipFill>
            <a:ln w="28575" cap="rnd">
              <a:solidFill>
                <a:srgbClr val="FFFFFF"/>
              </a:solidFill>
              <a:prstDash val="solid"/>
              <a:round/>
            </a:ln>
          </p:spPr>
        </p:sp>
      </p:grpSp>
      <p:grpSp>
        <p:nvGrpSpPr>
          <p:cNvPr name="Group 5" id="5"/>
          <p:cNvGrpSpPr/>
          <p:nvPr/>
        </p:nvGrpSpPr>
        <p:grpSpPr>
          <a:xfrm rot="0">
            <a:off x="9002974" y="2016310"/>
            <a:ext cx="12061563" cy="4892635"/>
            <a:chOff x="0" y="0"/>
            <a:chExt cx="16082085" cy="6523514"/>
          </a:xfrm>
        </p:grpSpPr>
        <p:sp>
          <p:nvSpPr>
            <p:cNvPr name="TextBox 6" id="6"/>
            <p:cNvSpPr txBox="true"/>
            <p:nvPr/>
          </p:nvSpPr>
          <p:spPr>
            <a:xfrm rot="0">
              <a:off x="0" y="1485919"/>
              <a:ext cx="10721390" cy="2513578"/>
            </a:xfrm>
            <a:prstGeom prst="rect">
              <a:avLst/>
            </a:prstGeom>
          </p:spPr>
          <p:txBody>
            <a:bodyPr anchor="t" rtlCol="false" tIns="0" lIns="0" bIns="0" rIns="0">
              <a:spAutoFit/>
            </a:bodyPr>
            <a:lstStyle/>
            <a:p>
              <a:pPr algn="l" marL="0" indent="0" lvl="0">
                <a:lnSpc>
                  <a:spcPts val="7094"/>
                </a:lnSpc>
              </a:pPr>
              <a:r>
                <a:rPr lang="en-US" sz="7094">
                  <a:solidFill>
                    <a:srgbClr val="00B7C2"/>
                  </a:solidFill>
                  <a:latin typeface="Catchy Mager"/>
                  <a:ea typeface="Catchy Mager"/>
                  <a:cs typeface="Catchy Mager"/>
                  <a:sym typeface="Catchy Mager"/>
                </a:rPr>
                <a:t>Artificial Intelligence: Digital Media</a:t>
              </a:r>
            </a:p>
          </p:txBody>
        </p:sp>
        <p:sp>
          <p:nvSpPr>
            <p:cNvPr name="TextBox 7" id="7"/>
            <p:cNvSpPr txBox="true"/>
            <p:nvPr/>
          </p:nvSpPr>
          <p:spPr>
            <a:xfrm rot="0">
              <a:off x="0" y="-114300"/>
              <a:ext cx="10721390" cy="1104054"/>
            </a:xfrm>
            <a:prstGeom prst="rect">
              <a:avLst/>
            </a:prstGeom>
          </p:spPr>
          <p:txBody>
            <a:bodyPr anchor="t" rtlCol="false" tIns="0" lIns="0" bIns="0" rIns="0">
              <a:spAutoFit/>
            </a:bodyPr>
            <a:lstStyle/>
            <a:p>
              <a:pPr algn="l" marL="0" indent="0" lvl="0">
                <a:lnSpc>
                  <a:spcPts val="6859"/>
                </a:lnSpc>
              </a:pPr>
              <a:r>
                <a:rPr lang="en-US" sz="4899">
                  <a:solidFill>
                    <a:srgbClr val="000000"/>
                  </a:solidFill>
                  <a:latin typeface="Catchy Mager"/>
                  <a:ea typeface="Catchy Mager"/>
                  <a:cs typeface="Catchy Mager"/>
                  <a:sym typeface="Catchy Mager"/>
                </a:rPr>
                <a:t>Analysing </a:t>
              </a:r>
              <a:r>
                <a:rPr lang="en-US" sz="4899">
                  <a:solidFill>
                    <a:srgbClr val="000000"/>
                  </a:solidFill>
                  <a:latin typeface="Catchy Mager"/>
                  <a:ea typeface="Catchy Mager"/>
                  <a:cs typeface="Catchy Mager"/>
                  <a:sym typeface="Catchy Mager"/>
                </a:rPr>
                <a:t>the Impact of</a:t>
              </a:r>
            </a:p>
          </p:txBody>
        </p:sp>
        <p:sp>
          <p:nvSpPr>
            <p:cNvPr name="TextBox 8" id="8"/>
            <p:cNvSpPr txBox="true"/>
            <p:nvPr/>
          </p:nvSpPr>
          <p:spPr>
            <a:xfrm rot="0">
              <a:off x="5360695" y="5325692"/>
              <a:ext cx="10721390" cy="1197822"/>
            </a:xfrm>
            <a:prstGeom prst="rect">
              <a:avLst/>
            </a:prstGeom>
          </p:spPr>
          <p:txBody>
            <a:bodyPr anchor="t" rtlCol="false" tIns="0" lIns="0" bIns="0" rIns="0">
              <a:spAutoFit/>
            </a:bodyPr>
            <a:lstStyle/>
            <a:p>
              <a:pPr algn="l">
                <a:lnSpc>
                  <a:spcPts val="3779"/>
                </a:lnSpc>
              </a:pPr>
              <a:r>
                <a:rPr lang="en-US" sz="2699">
                  <a:solidFill>
                    <a:srgbClr val="000000"/>
                  </a:solidFill>
                  <a:latin typeface="Catchy Mager"/>
                  <a:ea typeface="Catchy Mager"/>
                  <a:cs typeface="Catchy Mager"/>
                  <a:sym typeface="Catchy Mager"/>
                </a:rPr>
                <a:t>Presented By,</a:t>
              </a:r>
            </a:p>
            <a:p>
              <a:pPr algn="l" marL="0" indent="0" lvl="0">
                <a:lnSpc>
                  <a:spcPts val="3499"/>
                </a:lnSpc>
              </a:pPr>
              <a:r>
                <a:rPr lang="en-US" sz="2499">
                  <a:solidFill>
                    <a:srgbClr val="000000"/>
                  </a:solidFill>
                  <a:latin typeface="Catchy Mager"/>
                  <a:ea typeface="Catchy Mager"/>
                  <a:cs typeface="Catchy Mager"/>
                  <a:sym typeface="Catchy Mager"/>
                </a:rPr>
                <a:t>                    Rohini Suresh</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291293" y="543057"/>
            <a:ext cx="6329957" cy="8953500"/>
            <a:chOff x="0" y="0"/>
            <a:chExt cx="1103260" cy="1560523"/>
          </a:xfrm>
        </p:grpSpPr>
        <p:sp>
          <p:nvSpPr>
            <p:cNvPr name="Freeform 3" id="3"/>
            <p:cNvSpPr/>
            <p:nvPr/>
          </p:nvSpPr>
          <p:spPr>
            <a:xfrm flipH="false" flipV="false" rot="0">
              <a:off x="0" y="0"/>
              <a:ext cx="1103260" cy="1560523"/>
            </a:xfrm>
            <a:custGeom>
              <a:avLst/>
              <a:gdLst/>
              <a:ahLst/>
              <a:cxnLst/>
              <a:rect r="r" b="b" t="t" l="l"/>
              <a:pathLst>
                <a:path h="1560523" w="1103260">
                  <a:moveTo>
                    <a:pt x="48922" y="0"/>
                  </a:moveTo>
                  <a:lnTo>
                    <a:pt x="1054338" y="0"/>
                  </a:lnTo>
                  <a:cubicBezTo>
                    <a:pt x="1067313" y="0"/>
                    <a:pt x="1079757" y="5154"/>
                    <a:pt x="1088931" y="14329"/>
                  </a:cubicBezTo>
                  <a:cubicBezTo>
                    <a:pt x="1098106" y="23504"/>
                    <a:pt x="1103260" y="35947"/>
                    <a:pt x="1103260" y="48922"/>
                  </a:cubicBezTo>
                  <a:lnTo>
                    <a:pt x="1103260" y="1511600"/>
                  </a:lnTo>
                  <a:cubicBezTo>
                    <a:pt x="1103260" y="1524575"/>
                    <a:pt x="1098106" y="1537019"/>
                    <a:pt x="1088931" y="1546194"/>
                  </a:cubicBezTo>
                  <a:cubicBezTo>
                    <a:pt x="1079757" y="1555369"/>
                    <a:pt x="1067313" y="1560523"/>
                    <a:pt x="1054338" y="1560523"/>
                  </a:cubicBezTo>
                  <a:lnTo>
                    <a:pt x="48922" y="1560523"/>
                  </a:lnTo>
                  <a:cubicBezTo>
                    <a:pt x="35947" y="1560523"/>
                    <a:pt x="23504" y="1555369"/>
                    <a:pt x="14329" y="1546194"/>
                  </a:cubicBezTo>
                  <a:cubicBezTo>
                    <a:pt x="5154" y="1537019"/>
                    <a:pt x="0" y="1524575"/>
                    <a:pt x="0" y="1511600"/>
                  </a:cubicBezTo>
                  <a:lnTo>
                    <a:pt x="0" y="48922"/>
                  </a:lnTo>
                  <a:cubicBezTo>
                    <a:pt x="0" y="35947"/>
                    <a:pt x="5154" y="23504"/>
                    <a:pt x="14329" y="14329"/>
                  </a:cubicBezTo>
                  <a:cubicBezTo>
                    <a:pt x="23504" y="5154"/>
                    <a:pt x="35947" y="0"/>
                    <a:pt x="48922" y="0"/>
                  </a:cubicBezTo>
                  <a:close/>
                </a:path>
              </a:pathLst>
            </a:custGeom>
            <a:blipFill>
              <a:blip r:embed="rId2"/>
              <a:stretch>
                <a:fillRect l="-4103" t="0" r="-4103" b="0"/>
              </a:stretch>
            </a:blipFill>
            <a:ln w="19050" cap="rnd">
              <a:solidFill>
                <a:srgbClr val="432766"/>
              </a:solidFill>
              <a:prstDash val="solid"/>
              <a:round/>
            </a:ln>
          </p:spPr>
        </p:sp>
      </p:grpSp>
      <p:grpSp>
        <p:nvGrpSpPr>
          <p:cNvPr name="Group 4" id="4"/>
          <p:cNvGrpSpPr/>
          <p:nvPr/>
        </p:nvGrpSpPr>
        <p:grpSpPr>
          <a:xfrm rot="0">
            <a:off x="625519" y="403473"/>
            <a:ext cx="10492446" cy="9480053"/>
            <a:chOff x="0" y="0"/>
            <a:chExt cx="13989928" cy="12640071"/>
          </a:xfrm>
        </p:grpSpPr>
        <p:sp>
          <p:nvSpPr>
            <p:cNvPr name="TextBox 5" id="5"/>
            <p:cNvSpPr txBox="true"/>
            <p:nvPr/>
          </p:nvSpPr>
          <p:spPr>
            <a:xfrm rot="0">
              <a:off x="0" y="1919398"/>
              <a:ext cx="13989928" cy="10720673"/>
            </a:xfrm>
            <a:prstGeom prst="rect">
              <a:avLst/>
            </a:prstGeom>
          </p:spPr>
          <p:txBody>
            <a:bodyPr anchor="t" rtlCol="false" tIns="0" lIns="0" bIns="0" rIns="0">
              <a:spAutoFit/>
            </a:bodyPr>
            <a:lstStyle/>
            <a:p>
              <a:pPr algn="l" marL="634616" indent="-317308" lvl="1">
                <a:lnSpc>
                  <a:spcPts val="3821"/>
                </a:lnSpc>
                <a:buFont typeface="Arial"/>
                <a:buChar char="•"/>
              </a:pPr>
              <a:r>
                <a:rPr lang="en-US" sz="2939">
                  <a:solidFill>
                    <a:srgbClr val="000000"/>
                  </a:solidFill>
                  <a:latin typeface="HK Grotesk Light"/>
                  <a:ea typeface="HK Grotesk Light"/>
                  <a:cs typeface="HK Grotesk Light"/>
                  <a:sym typeface="HK Grotesk Light"/>
                </a:rPr>
                <a:t>Artificial Intelligence is </a:t>
              </a:r>
              <a:r>
                <a:rPr lang="en-US" b="true" sz="2939">
                  <a:solidFill>
                    <a:srgbClr val="000000"/>
                  </a:solidFill>
                  <a:latin typeface="HK Grotesk Bold"/>
                  <a:ea typeface="HK Grotesk Bold"/>
                  <a:cs typeface="HK Grotesk Bold"/>
                  <a:sym typeface="HK Grotesk Bold"/>
                </a:rPr>
                <a:t>rapidly evolving</a:t>
              </a:r>
              <a:r>
                <a:rPr lang="en-US" sz="2939">
                  <a:solidFill>
                    <a:srgbClr val="000000"/>
                  </a:solidFill>
                  <a:latin typeface="HK Grotesk Light"/>
                  <a:ea typeface="HK Grotesk Light"/>
                  <a:cs typeface="HK Grotesk Light"/>
                  <a:sym typeface="HK Grotesk Light"/>
                </a:rPr>
                <a:t>, promising revolutionary changes in technology and everyday life for all.</a:t>
              </a:r>
            </a:p>
            <a:p>
              <a:pPr algn="l">
                <a:lnSpc>
                  <a:spcPts val="3821"/>
                </a:lnSpc>
              </a:pPr>
            </a:p>
            <a:p>
              <a:pPr algn="l" marL="634616" indent="-317308" lvl="1">
                <a:lnSpc>
                  <a:spcPts val="3821"/>
                </a:lnSpc>
                <a:buFont typeface="Arial"/>
                <a:buChar char="•"/>
              </a:pPr>
              <a:r>
                <a:rPr lang="en-US" sz="2939">
                  <a:solidFill>
                    <a:srgbClr val="000000"/>
                  </a:solidFill>
                  <a:latin typeface="HK Grotesk Light"/>
                  <a:ea typeface="HK Grotesk Light"/>
                  <a:cs typeface="HK Grotesk Light"/>
                  <a:sym typeface="HK Grotesk Light"/>
                </a:rPr>
                <a:t>The rapid expansion of digital media platforms has resulted in exponential growth in content creation and consumption.</a:t>
              </a:r>
            </a:p>
            <a:p>
              <a:pPr algn="l">
                <a:lnSpc>
                  <a:spcPts val="3821"/>
                </a:lnSpc>
              </a:pPr>
            </a:p>
            <a:p>
              <a:pPr algn="l" marL="634616" indent="-317308" lvl="1">
                <a:lnSpc>
                  <a:spcPts val="3821"/>
                </a:lnSpc>
                <a:buFont typeface="Arial"/>
                <a:buChar char="•"/>
              </a:pPr>
              <a:r>
                <a:rPr lang="en-US" sz="2939">
                  <a:solidFill>
                    <a:srgbClr val="000000"/>
                  </a:solidFill>
                  <a:latin typeface="HK Grotesk Light"/>
                  <a:ea typeface="HK Grotesk Light"/>
                  <a:cs typeface="HK Grotesk Light"/>
                  <a:sym typeface="HK Grotesk Light"/>
                </a:rPr>
                <a:t>Handling large volume of digital content manually has become complex and time-consuming.</a:t>
              </a:r>
            </a:p>
            <a:p>
              <a:pPr algn="l">
                <a:lnSpc>
                  <a:spcPts val="3821"/>
                </a:lnSpc>
              </a:pPr>
            </a:p>
            <a:p>
              <a:pPr algn="l" marL="634616" indent="-317308" lvl="1">
                <a:lnSpc>
                  <a:spcPts val="3821"/>
                </a:lnSpc>
                <a:buFont typeface="Arial"/>
                <a:buChar char="•"/>
              </a:pPr>
              <a:r>
                <a:rPr lang="en-US" sz="2939">
                  <a:solidFill>
                    <a:srgbClr val="000000"/>
                  </a:solidFill>
                  <a:latin typeface="HK Grotesk Light"/>
                  <a:ea typeface="HK Grotesk Light"/>
                  <a:cs typeface="HK Grotesk Light"/>
                  <a:sym typeface="HK Grotesk Light"/>
                </a:rPr>
                <a:t>Artificial Intelligence (AI) enables automation, personalization and real-time analysis in digital media.</a:t>
              </a:r>
            </a:p>
            <a:p>
              <a:pPr algn="l">
                <a:lnSpc>
                  <a:spcPts val="3821"/>
                </a:lnSpc>
              </a:pPr>
            </a:p>
            <a:p>
              <a:pPr algn="l" marL="613027" indent="-306513" lvl="1">
                <a:lnSpc>
                  <a:spcPts val="3691"/>
                </a:lnSpc>
                <a:buFont typeface="Arial"/>
                <a:buChar char="•"/>
              </a:pPr>
              <a:r>
                <a:rPr lang="en-US" sz="2839">
                  <a:solidFill>
                    <a:srgbClr val="000000"/>
                  </a:solidFill>
                  <a:latin typeface="HK Grotesk Light"/>
                  <a:ea typeface="HK Grotesk Light"/>
                  <a:cs typeface="HK Grotesk Light"/>
                  <a:sym typeface="HK Grotesk Light"/>
                </a:rPr>
                <a:t>AI adoption has significantly contributed to increased revenue and productivity across media industries.</a:t>
              </a:r>
            </a:p>
            <a:p>
              <a:pPr algn="l">
                <a:lnSpc>
                  <a:spcPts val="3691"/>
                </a:lnSpc>
              </a:pPr>
            </a:p>
            <a:p>
              <a:pPr algn="l" marL="613027" indent="-306513" lvl="1">
                <a:lnSpc>
                  <a:spcPts val="3691"/>
                </a:lnSpc>
                <a:buFont typeface="Arial"/>
                <a:buChar char="•"/>
              </a:pPr>
              <a:r>
                <a:rPr lang="en-US" sz="2839">
                  <a:solidFill>
                    <a:srgbClr val="000000"/>
                  </a:solidFill>
                  <a:latin typeface="HK Grotesk Light"/>
                  <a:ea typeface="HK Grotesk Light"/>
                  <a:cs typeface="HK Grotesk Light"/>
                  <a:sym typeface="HK Grotesk Light"/>
                </a:rPr>
                <a:t>Along with growth, AI also introduces workforce transformation and human-AI collaboration.</a:t>
              </a:r>
            </a:p>
          </p:txBody>
        </p:sp>
        <p:sp>
          <p:nvSpPr>
            <p:cNvPr name="TextBox 6" id="6"/>
            <p:cNvSpPr txBox="true"/>
            <p:nvPr/>
          </p:nvSpPr>
          <p:spPr>
            <a:xfrm rot="0">
              <a:off x="0" y="133350"/>
              <a:ext cx="12202685" cy="1512575"/>
            </a:xfrm>
            <a:prstGeom prst="rect">
              <a:avLst/>
            </a:prstGeom>
          </p:spPr>
          <p:txBody>
            <a:bodyPr anchor="t" rtlCol="false" tIns="0" lIns="0" bIns="0" rIns="0">
              <a:spAutoFit/>
            </a:bodyPr>
            <a:lstStyle/>
            <a:p>
              <a:pPr algn="l" marL="0" indent="0" lvl="0">
                <a:lnSpc>
                  <a:spcPts val="8100"/>
                </a:lnSpc>
              </a:pPr>
              <a:r>
                <a:rPr lang="en-US" sz="8100">
                  <a:solidFill>
                    <a:srgbClr val="00B7C2"/>
                  </a:solidFill>
                  <a:latin typeface="Catchy Mager"/>
                  <a:ea typeface="Catchy Mager"/>
                  <a:cs typeface="Catchy Mager"/>
                  <a:sym typeface="Catchy Mager"/>
                </a:rPr>
                <a:t>INTRODUCTION</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4077950" cy="2062247"/>
            <a:chOff x="0" y="0"/>
            <a:chExt cx="18770600" cy="2749662"/>
          </a:xfrm>
        </p:grpSpPr>
        <p:sp>
          <p:nvSpPr>
            <p:cNvPr name="TextBox 3" id="3"/>
            <p:cNvSpPr txBox="true"/>
            <p:nvPr/>
          </p:nvSpPr>
          <p:spPr>
            <a:xfrm rot="0">
              <a:off x="0" y="142875"/>
              <a:ext cx="18770600" cy="1641051"/>
            </a:xfrm>
            <a:prstGeom prst="rect">
              <a:avLst/>
            </a:prstGeom>
          </p:spPr>
          <p:txBody>
            <a:bodyPr anchor="t" rtlCol="false" tIns="0" lIns="0" bIns="0" rIns="0">
              <a:spAutoFit/>
            </a:bodyPr>
            <a:lstStyle/>
            <a:p>
              <a:pPr algn="l" marL="0" indent="0" lvl="0">
                <a:lnSpc>
                  <a:spcPts val="8799"/>
                </a:lnSpc>
              </a:pPr>
              <a:r>
                <a:rPr lang="en-US" sz="8799">
                  <a:solidFill>
                    <a:srgbClr val="00B7C2"/>
                  </a:solidFill>
                  <a:latin typeface="Catchy Mager"/>
                  <a:ea typeface="Catchy Mager"/>
                  <a:cs typeface="Catchy Mager"/>
                  <a:sym typeface="Catchy Mager"/>
                </a:rPr>
                <a:t>OBJECTIVES</a:t>
              </a:r>
            </a:p>
          </p:txBody>
        </p:sp>
        <p:sp>
          <p:nvSpPr>
            <p:cNvPr name="TextBox 4" id="4"/>
            <p:cNvSpPr txBox="true"/>
            <p:nvPr/>
          </p:nvSpPr>
          <p:spPr>
            <a:xfrm rot="0">
              <a:off x="0" y="2130537"/>
              <a:ext cx="18468240" cy="619125"/>
            </a:xfrm>
            <a:prstGeom prst="rect">
              <a:avLst/>
            </a:prstGeom>
          </p:spPr>
          <p:txBody>
            <a:bodyPr anchor="t" rtlCol="false" tIns="0" lIns="0" bIns="0" rIns="0">
              <a:spAutoFit/>
            </a:bodyPr>
            <a:lstStyle/>
            <a:p>
              <a:pPr algn="l" marL="0" indent="0" lvl="0">
                <a:lnSpc>
                  <a:spcPts val="3600"/>
                </a:lnSpc>
                <a:spcBef>
                  <a:spcPct val="0"/>
                </a:spcBef>
              </a:pPr>
            </a:p>
          </p:txBody>
        </p:sp>
      </p:grpSp>
      <p:sp>
        <p:nvSpPr>
          <p:cNvPr name="TextBox 5" id="5"/>
          <p:cNvSpPr txBox="true"/>
          <p:nvPr/>
        </p:nvSpPr>
        <p:spPr>
          <a:xfrm rot="0">
            <a:off x="783919" y="2021961"/>
            <a:ext cx="16720163" cy="7772876"/>
          </a:xfrm>
          <a:prstGeom prst="rect">
            <a:avLst/>
          </a:prstGeom>
        </p:spPr>
        <p:txBody>
          <a:bodyPr anchor="t" rtlCol="false" tIns="0" lIns="0" bIns="0" rIns="0">
            <a:spAutoFit/>
          </a:bodyPr>
          <a:lstStyle/>
          <a:p>
            <a:pPr algn="l" marL="639604" indent="-319802" lvl="1">
              <a:lnSpc>
                <a:spcPts val="3851"/>
              </a:lnSpc>
              <a:buFont typeface="Arial"/>
              <a:buChar char="•"/>
            </a:pPr>
            <a:r>
              <a:rPr lang="en-US" sz="2962">
                <a:solidFill>
                  <a:srgbClr val="FFFFFF"/>
                </a:solidFill>
                <a:latin typeface="HK Grotesk Light"/>
                <a:ea typeface="HK Grotesk Light"/>
                <a:cs typeface="HK Grotesk Light"/>
                <a:sym typeface="HK Grotesk Light"/>
              </a:rPr>
              <a:t>To present a comprehensive analytical assessment of the role of Artificial Intelligence in the digital media ecosystem.</a:t>
            </a:r>
          </a:p>
          <a:p>
            <a:pPr algn="l">
              <a:lnSpc>
                <a:spcPts val="3851"/>
              </a:lnSpc>
            </a:pPr>
          </a:p>
          <a:p>
            <a:pPr algn="l" marL="639604" indent="-319802" lvl="1">
              <a:lnSpc>
                <a:spcPts val="3851"/>
              </a:lnSpc>
              <a:buFont typeface="Arial"/>
              <a:buChar char="•"/>
            </a:pPr>
            <a:r>
              <a:rPr lang="en-US" sz="2962">
                <a:solidFill>
                  <a:srgbClr val="FFFFFF"/>
                </a:solidFill>
                <a:latin typeface="HK Grotesk Light"/>
                <a:ea typeface="HK Grotesk Light"/>
                <a:cs typeface="HK Grotesk Light"/>
                <a:sym typeface="HK Grotesk Light"/>
              </a:rPr>
              <a:t>To examine global and industry-level AI adoption patterns to identify key trends over time and to evaluate the economic impact of AI integration, with specific emphasis on revenue growth and AI-generated content volume.</a:t>
            </a:r>
          </a:p>
          <a:p>
            <a:pPr algn="l">
              <a:lnSpc>
                <a:spcPts val="3851"/>
              </a:lnSpc>
            </a:pPr>
          </a:p>
          <a:p>
            <a:pPr algn="l" marL="639604" indent="-319802" lvl="1">
              <a:lnSpc>
                <a:spcPts val="3851"/>
              </a:lnSpc>
              <a:buFont typeface="Arial"/>
              <a:buChar char="•"/>
            </a:pPr>
            <a:r>
              <a:rPr lang="en-US" sz="2962">
                <a:solidFill>
                  <a:srgbClr val="FFFFFF"/>
                </a:solidFill>
                <a:latin typeface="HK Grotesk Light"/>
                <a:ea typeface="HK Grotesk Light"/>
                <a:cs typeface="HK Grotesk Light"/>
                <a:sym typeface="HK Grotesk Light"/>
              </a:rPr>
              <a:t>To analyze the workforce implication of AI adoption, including job displacement and the evolution of human-AI collaboration.</a:t>
            </a:r>
          </a:p>
          <a:p>
            <a:pPr algn="l">
              <a:lnSpc>
                <a:spcPts val="3851"/>
              </a:lnSpc>
            </a:pPr>
          </a:p>
          <a:p>
            <a:pPr algn="l" marL="639604" indent="-319802" lvl="1">
              <a:lnSpc>
                <a:spcPts val="3851"/>
              </a:lnSpc>
              <a:buFont typeface="Arial"/>
              <a:buChar char="•"/>
            </a:pPr>
            <a:r>
              <a:rPr lang="en-US" sz="2962">
                <a:solidFill>
                  <a:srgbClr val="FFFFFF"/>
                </a:solidFill>
                <a:latin typeface="HK Grotesk Light"/>
                <a:ea typeface="HK Grotesk Light"/>
                <a:cs typeface="HK Grotesk Light"/>
                <a:sym typeface="HK Grotesk Light"/>
              </a:rPr>
              <a:t>To assess the competitive landscape of AI technologies by examining market share trends of leading AI companies.</a:t>
            </a:r>
          </a:p>
          <a:p>
            <a:pPr algn="l">
              <a:lnSpc>
                <a:spcPts val="3851"/>
              </a:lnSpc>
            </a:pPr>
          </a:p>
          <a:p>
            <a:pPr algn="l" marL="639604" indent="-319802" lvl="1">
              <a:lnSpc>
                <a:spcPts val="3851"/>
              </a:lnSpc>
              <a:buFont typeface="Arial"/>
              <a:buChar char="•"/>
            </a:pPr>
            <a:r>
              <a:rPr lang="en-US" sz="2962">
                <a:solidFill>
                  <a:srgbClr val="FFFFFF"/>
                </a:solidFill>
                <a:latin typeface="HK Grotesk Light"/>
                <a:ea typeface="HK Grotesk Light"/>
                <a:cs typeface="HK Grotesk Light"/>
                <a:sym typeface="HK Grotesk Light"/>
              </a:rPr>
              <a:t>To identify the most widely adopted AI tools influencing digital media production and distribution.</a:t>
            </a:r>
          </a:p>
          <a:p>
            <a:pPr algn="l">
              <a:lnSpc>
                <a:spcPts val="3851"/>
              </a:lnSpc>
            </a:pPr>
          </a:p>
          <a:p>
            <a:pPr algn="l" marL="639604" indent="-319802" lvl="1">
              <a:lnSpc>
                <a:spcPts val="3851"/>
              </a:lnSpc>
              <a:buFont typeface="Arial"/>
              <a:buChar char="•"/>
            </a:pPr>
            <a:r>
              <a:rPr lang="en-US" sz="2962">
                <a:solidFill>
                  <a:srgbClr val="FFFFFF"/>
                </a:solidFill>
                <a:latin typeface="HK Grotesk Light"/>
                <a:ea typeface="HK Grotesk Light"/>
                <a:cs typeface="HK Grotesk Light"/>
                <a:sym typeface="HK Grotesk Light"/>
              </a:rPr>
              <a:t>To provide strategic insights that support better decision-making</a:t>
            </a:r>
          </a:p>
        </p:txBody>
      </p:sp>
      <p:sp>
        <p:nvSpPr>
          <p:cNvPr name="Freeform 6" id="6"/>
          <p:cNvSpPr/>
          <p:nvPr/>
        </p:nvSpPr>
        <p:spPr>
          <a:xfrm flipH="false" flipV="false" rot="4437773">
            <a:off x="13770320" y="-6241286"/>
            <a:ext cx="12640239" cy="11904807"/>
          </a:xfrm>
          <a:custGeom>
            <a:avLst/>
            <a:gdLst/>
            <a:ahLst/>
            <a:cxnLst/>
            <a:rect r="r" b="b" t="t" l="l"/>
            <a:pathLst>
              <a:path h="11904807" w="12640239">
                <a:moveTo>
                  <a:pt x="0" y="0"/>
                </a:moveTo>
                <a:lnTo>
                  <a:pt x="12640239" y="0"/>
                </a:lnTo>
                <a:lnTo>
                  <a:pt x="12640239" y="11904806"/>
                </a:lnTo>
                <a:lnTo>
                  <a:pt x="0" y="11904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781401" y="-133350"/>
            <a:ext cx="4768215" cy="1087756"/>
          </a:xfrm>
          <a:prstGeom prst="rect">
            <a:avLst/>
          </a:prstGeom>
        </p:spPr>
        <p:txBody>
          <a:bodyPr anchor="t" rtlCol="false" tIns="0" lIns="0" bIns="0" rIns="0">
            <a:spAutoFit/>
          </a:bodyPr>
          <a:lstStyle/>
          <a:p>
            <a:pPr algn="ctr">
              <a:lnSpc>
                <a:spcPts val="8819"/>
              </a:lnSpc>
            </a:pPr>
            <a:r>
              <a:rPr lang="en-US" sz="6299">
                <a:solidFill>
                  <a:srgbClr val="00B7C2"/>
                </a:solidFill>
                <a:latin typeface="Catchy Mager"/>
                <a:ea typeface="Catchy Mager"/>
                <a:cs typeface="Catchy Mager"/>
                <a:sym typeface="Catchy Mager"/>
              </a:rPr>
              <a:t>DASHBOARD</a:t>
            </a:r>
          </a:p>
        </p:txBody>
      </p:sp>
      <p:sp>
        <p:nvSpPr>
          <p:cNvPr name="AutoShape 3" id="3"/>
          <p:cNvSpPr/>
          <p:nvPr/>
        </p:nvSpPr>
        <p:spPr>
          <a:xfrm>
            <a:off x="253130" y="843031"/>
            <a:ext cx="17781740" cy="0"/>
          </a:xfrm>
          <a:prstGeom prst="line">
            <a:avLst/>
          </a:prstGeom>
          <a:ln cap="flat" w="38100">
            <a:solidFill>
              <a:srgbClr val="00B7C2"/>
            </a:solidFill>
            <a:prstDash val="solid"/>
            <a:headEnd type="none" len="sm" w="sm"/>
            <a:tailEnd type="none" len="sm" w="sm"/>
          </a:ln>
        </p:spPr>
      </p:sp>
      <p:sp>
        <p:nvSpPr>
          <p:cNvPr name="Freeform 4" id="4"/>
          <p:cNvSpPr/>
          <p:nvPr/>
        </p:nvSpPr>
        <p:spPr>
          <a:xfrm flipH="false" flipV="false" rot="0">
            <a:off x="-432925" y="692719"/>
            <a:ext cx="18433523" cy="9594281"/>
          </a:xfrm>
          <a:custGeom>
            <a:avLst/>
            <a:gdLst/>
            <a:ahLst/>
            <a:cxnLst/>
            <a:rect r="r" b="b" t="t" l="l"/>
            <a:pathLst>
              <a:path h="9594281" w="18433523">
                <a:moveTo>
                  <a:pt x="0" y="0"/>
                </a:moveTo>
                <a:lnTo>
                  <a:pt x="18433523" y="0"/>
                </a:lnTo>
                <a:lnTo>
                  <a:pt x="18433523" y="9594281"/>
                </a:lnTo>
                <a:lnTo>
                  <a:pt x="0" y="9594281"/>
                </a:lnTo>
                <a:lnTo>
                  <a:pt x="0" y="0"/>
                </a:lnTo>
                <a:close/>
              </a:path>
            </a:pathLst>
          </a:custGeom>
          <a:blipFill>
            <a:blip r:embed="rId2"/>
            <a:stretch>
              <a:fillRect l="0" t="-73" r="-2205" b="-11119"/>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80072" y="1282058"/>
            <a:ext cx="17110595" cy="8857128"/>
          </a:xfrm>
          <a:custGeom>
            <a:avLst/>
            <a:gdLst/>
            <a:ahLst/>
            <a:cxnLst/>
            <a:rect r="r" b="b" t="t" l="l"/>
            <a:pathLst>
              <a:path h="8857128" w="17110595">
                <a:moveTo>
                  <a:pt x="0" y="0"/>
                </a:moveTo>
                <a:lnTo>
                  <a:pt x="17110595" y="0"/>
                </a:lnTo>
                <a:lnTo>
                  <a:pt x="17110595" y="8857128"/>
                </a:lnTo>
                <a:lnTo>
                  <a:pt x="0" y="8857128"/>
                </a:lnTo>
                <a:lnTo>
                  <a:pt x="0" y="0"/>
                </a:lnTo>
                <a:close/>
              </a:path>
            </a:pathLst>
          </a:custGeom>
          <a:blipFill>
            <a:blip r:embed="rId2"/>
            <a:stretch>
              <a:fillRect l="0" t="-1399" r="-1415" b="-20559"/>
            </a:stretch>
          </a:blipFill>
        </p:spPr>
      </p:sp>
      <p:sp>
        <p:nvSpPr>
          <p:cNvPr name="TextBox 3" id="3"/>
          <p:cNvSpPr txBox="true"/>
          <p:nvPr/>
        </p:nvSpPr>
        <p:spPr>
          <a:xfrm rot="0">
            <a:off x="380072" y="151757"/>
            <a:ext cx="5766679" cy="1130301"/>
          </a:xfrm>
          <a:prstGeom prst="rect">
            <a:avLst/>
          </a:prstGeom>
        </p:spPr>
        <p:txBody>
          <a:bodyPr anchor="t" rtlCol="false" tIns="0" lIns="0" bIns="0" rIns="0">
            <a:spAutoFit/>
          </a:bodyPr>
          <a:lstStyle/>
          <a:p>
            <a:pPr algn="ctr">
              <a:lnSpc>
                <a:spcPts val="9099"/>
              </a:lnSpc>
            </a:pPr>
            <a:r>
              <a:rPr lang="en-US" sz="6499">
                <a:solidFill>
                  <a:srgbClr val="00B7C2"/>
                </a:solidFill>
                <a:latin typeface="Catchy Mager"/>
                <a:ea typeface="Catchy Mager"/>
                <a:cs typeface="Catchy Mager"/>
                <a:sym typeface="Catchy Mager"/>
              </a:rPr>
              <a:t>DATASET USED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04904" y="314853"/>
            <a:ext cx="14077950" cy="1195069"/>
          </a:xfrm>
          <a:prstGeom prst="rect">
            <a:avLst/>
          </a:prstGeom>
        </p:spPr>
        <p:txBody>
          <a:bodyPr anchor="t" rtlCol="false" tIns="0" lIns="0" bIns="0" rIns="0">
            <a:spAutoFit/>
          </a:bodyPr>
          <a:lstStyle/>
          <a:p>
            <a:pPr algn="l" marL="0" indent="0" lvl="0">
              <a:lnSpc>
                <a:spcPts val="8799"/>
              </a:lnSpc>
            </a:pPr>
            <a:r>
              <a:rPr lang="en-US" sz="8799">
                <a:solidFill>
                  <a:srgbClr val="00B7C2"/>
                </a:solidFill>
                <a:latin typeface="Catchy Mager"/>
                <a:ea typeface="Catchy Mager"/>
                <a:cs typeface="Catchy Mager"/>
                <a:sym typeface="Catchy Mager"/>
              </a:rPr>
              <a:t>CRITERIA USED</a:t>
            </a:r>
          </a:p>
        </p:txBody>
      </p:sp>
      <p:sp>
        <p:nvSpPr>
          <p:cNvPr name="TextBox 3" id="3"/>
          <p:cNvSpPr txBox="true"/>
          <p:nvPr/>
        </p:nvSpPr>
        <p:spPr>
          <a:xfrm rot="0">
            <a:off x="1028700" y="1481348"/>
            <a:ext cx="6886575" cy="8660765"/>
          </a:xfrm>
          <a:prstGeom prst="rect">
            <a:avLst/>
          </a:prstGeom>
        </p:spPr>
        <p:txBody>
          <a:bodyPr anchor="t" rtlCol="false" tIns="0" lIns="0" bIns="0" rIns="0">
            <a:spAutoFit/>
          </a:bodyPr>
          <a:lstStyle/>
          <a:p>
            <a:pPr algn="l" marL="604521" indent="-302261" lvl="1">
              <a:lnSpc>
                <a:spcPts val="3640"/>
              </a:lnSpc>
              <a:buFont typeface="Arial"/>
              <a:buChar char="•"/>
            </a:pPr>
            <a:r>
              <a:rPr lang="en-US" sz="2800">
                <a:solidFill>
                  <a:srgbClr val="000000"/>
                </a:solidFill>
                <a:latin typeface="HK Grotesk Light"/>
                <a:ea typeface="HK Grotesk Light"/>
                <a:cs typeface="HK Grotesk Light"/>
                <a:sym typeface="HK Grotesk Light"/>
              </a:rPr>
              <a:t>AI adoption rate</a:t>
            </a:r>
          </a:p>
          <a:p>
            <a:pPr algn="l">
              <a:lnSpc>
                <a:spcPts val="3640"/>
              </a:lnSpc>
            </a:pPr>
          </a:p>
          <a:p>
            <a:pPr algn="l" marL="604521" indent="-302261" lvl="1">
              <a:lnSpc>
                <a:spcPts val="3640"/>
              </a:lnSpc>
              <a:buFont typeface="Arial"/>
              <a:buChar char="•"/>
            </a:pPr>
            <a:r>
              <a:rPr lang="en-US" sz="2800">
                <a:solidFill>
                  <a:srgbClr val="000000"/>
                </a:solidFill>
                <a:latin typeface="HK Grotesk Light"/>
                <a:ea typeface="HK Grotesk Light"/>
                <a:cs typeface="HK Grotesk Light"/>
                <a:sym typeface="HK Grotesk Light"/>
              </a:rPr>
              <a:t>AI generated content volume </a:t>
            </a:r>
          </a:p>
          <a:p>
            <a:pPr algn="l">
              <a:lnSpc>
                <a:spcPts val="3640"/>
              </a:lnSpc>
            </a:pPr>
          </a:p>
          <a:p>
            <a:pPr algn="l" marL="604521" indent="-302261" lvl="1">
              <a:lnSpc>
                <a:spcPts val="3640"/>
              </a:lnSpc>
              <a:buFont typeface="Arial"/>
              <a:buChar char="•"/>
            </a:pPr>
            <a:r>
              <a:rPr lang="en-US" sz="2800">
                <a:solidFill>
                  <a:srgbClr val="000000"/>
                </a:solidFill>
                <a:latin typeface="HK Grotesk Light"/>
                <a:ea typeface="HK Grotesk Light"/>
                <a:cs typeface="HK Grotesk Light"/>
                <a:sym typeface="HK Grotesk Light"/>
              </a:rPr>
              <a:t>Revenue increase due to AI</a:t>
            </a:r>
          </a:p>
          <a:p>
            <a:pPr algn="l">
              <a:lnSpc>
                <a:spcPts val="3640"/>
              </a:lnSpc>
            </a:pPr>
          </a:p>
          <a:p>
            <a:pPr algn="l" marL="604521" indent="-302261" lvl="1">
              <a:lnSpc>
                <a:spcPts val="3640"/>
              </a:lnSpc>
              <a:buFont typeface="Arial"/>
              <a:buChar char="•"/>
            </a:pPr>
            <a:r>
              <a:rPr lang="en-US" sz="2800">
                <a:solidFill>
                  <a:srgbClr val="000000"/>
                </a:solidFill>
                <a:latin typeface="HK Grotesk Light"/>
                <a:ea typeface="HK Grotesk Light"/>
                <a:cs typeface="HK Grotesk Light"/>
                <a:sym typeface="HK Grotesk Light"/>
              </a:rPr>
              <a:t>Human-AI collaboration rate</a:t>
            </a:r>
          </a:p>
          <a:p>
            <a:pPr algn="l">
              <a:lnSpc>
                <a:spcPts val="3640"/>
              </a:lnSpc>
            </a:pPr>
          </a:p>
          <a:p>
            <a:pPr algn="l" marL="604521" indent="-302261" lvl="1">
              <a:lnSpc>
                <a:spcPts val="3640"/>
              </a:lnSpc>
              <a:buFont typeface="Arial"/>
              <a:buChar char="•"/>
            </a:pPr>
            <a:r>
              <a:rPr lang="en-US" sz="2800">
                <a:solidFill>
                  <a:srgbClr val="000000"/>
                </a:solidFill>
                <a:latin typeface="HK Grotesk Light"/>
                <a:ea typeface="HK Grotesk Light"/>
                <a:cs typeface="HK Grotesk Light"/>
                <a:sym typeface="HK Grotesk Light"/>
              </a:rPr>
              <a:t>Tool popularity index</a:t>
            </a:r>
          </a:p>
          <a:p>
            <a:pPr algn="l">
              <a:lnSpc>
                <a:spcPts val="3640"/>
              </a:lnSpc>
            </a:pPr>
          </a:p>
          <a:p>
            <a:pPr algn="l" marL="604521" indent="-302261" lvl="1">
              <a:lnSpc>
                <a:spcPts val="3640"/>
              </a:lnSpc>
              <a:buFont typeface="Arial"/>
              <a:buChar char="•"/>
            </a:pPr>
            <a:r>
              <a:rPr lang="en-US" sz="2800">
                <a:solidFill>
                  <a:srgbClr val="000000"/>
                </a:solidFill>
                <a:latin typeface="HK Grotesk Light"/>
                <a:ea typeface="HK Grotesk Light"/>
                <a:cs typeface="HK Grotesk Light"/>
                <a:sym typeface="HK Grotesk Light"/>
              </a:rPr>
              <a:t>AI regulation level</a:t>
            </a:r>
          </a:p>
          <a:p>
            <a:pPr algn="l">
              <a:lnSpc>
                <a:spcPts val="3640"/>
              </a:lnSpc>
            </a:pPr>
          </a:p>
          <a:p>
            <a:pPr algn="l" marL="604521" indent="-302261" lvl="1">
              <a:lnSpc>
                <a:spcPts val="3640"/>
              </a:lnSpc>
              <a:buFont typeface="Arial"/>
              <a:buChar char="•"/>
            </a:pPr>
            <a:r>
              <a:rPr lang="en-US" sz="2800">
                <a:solidFill>
                  <a:srgbClr val="000000"/>
                </a:solidFill>
                <a:latin typeface="HK Grotesk Light"/>
                <a:ea typeface="HK Grotesk Light"/>
                <a:cs typeface="HK Grotesk Light"/>
                <a:sym typeface="HK Grotesk Light"/>
              </a:rPr>
              <a:t>Year-wise growth</a:t>
            </a:r>
          </a:p>
          <a:p>
            <a:pPr algn="l">
              <a:lnSpc>
                <a:spcPts val="3510"/>
              </a:lnSpc>
            </a:pPr>
          </a:p>
          <a:p>
            <a:pPr algn="l" marL="604521" indent="-302261" lvl="1">
              <a:lnSpc>
                <a:spcPts val="3640"/>
              </a:lnSpc>
              <a:buFont typeface="Arial"/>
              <a:buChar char="•"/>
            </a:pPr>
            <a:r>
              <a:rPr lang="en-US" sz="2800">
                <a:solidFill>
                  <a:srgbClr val="000000"/>
                </a:solidFill>
                <a:latin typeface="HK Grotesk Light"/>
                <a:ea typeface="HK Grotesk Light"/>
                <a:cs typeface="HK Grotesk Light"/>
                <a:sym typeface="HK Grotesk Light"/>
              </a:rPr>
              <a:t>Market share of AI companies</a:t>
            </a:r>
          </a:p>
          <a:p>
            <a:pPr algn="l">
              <a:lnSpc>
                <a:spcPts val="3640"/>
              </a:lnSpc>
            </a:pPr>
          </a:p>
          <a:p>
            <a:pPr algn="l" marL="604521" indent="-302261" lvl="1">
              <a:lnSpc>
                <a:spcPts val="3640"/>
              </a:lnSpc>
              <a:buFont typeface="Arial"/>
              <a:buChar char="•"/>
            </a:pPr>
            <a:r>
              <a:rPr lang="en-US" sz="2800">
                <a:solidFill>
                  <a:srgbClr val="000000"/>
                </a:solidFill>
                <a:latin typeface="HK Grotesk Light"/>
                <a:ea typeface="HK Grotesk Light"/>
                <a:cs typeface="HK Grotesk Light"/>
                <a:sym typeface="HK Grotesk Light"/>
              </a:rPr>
              <a:t>Regulatory impact sensitivity</a:t>
            </a:r>
          </a:p>
          <a:p>
            <a:pPr algn="l">
              <a:lnSpc>
                <a:spcPts val="3640"/>
              </a:lnSpc>
            </a:pPr>
          </a:p>
          <a:p>
            <a:pPr algn="l" marL="604521" indent="-302261" lvl="1">
              <a:lnSpc>
                <a:spcPts val="3640"/>
              </a:lnSpc>
              <a:buFont typeface="Arial"/>
              <a:buChar char="•"/>
            </a:pPr>
            <a:r>
              <a:rPr lang="en-US" sz="2800">
                <a:solidFill>
                  <a:srgbClr val="000000"/>
                </a:solidFill>
                <a:latin typeface="HK Grotesk Light"/>
                <a:ea typeface="HK Grotesk Light"/>
                <a:cs typeface="HK Grotesk Light"/>
                <a:sym typeface="HK Grotesk Light"/>
              </a:rPr>
              <a:t>Workforce Transformation rate</a:t>
            </a:r>
          </a:p>
        </p:txBody>
      </p:sp>
      <p:sp>
        <p:nvSpPr>
          <p:cNvPr name="Freeform 4" id="4"/>
          <p:cNvSpPr/>
          <p:nvPr/>
        </p:nvSpPr>
        <p:spPr>
          <a:xfrm flipH="false" flipV="false" rot="4437773">
            <a:off x="13770320" y="-6241286"/>
            <a:ext cx="12640239" cy="11904807"/>
          </a:xfrm>
          <a:custGeom>
            <a:avLst/>
            <a:gdLst/>
            <a:ahLst/>
            <a:cxnLst/>
            <a:rect r="r" b="b" t="t" l="l"/>
            <a:pathLst>
              <a:path h="11904807" w="12640239">
                <a:moveTo>
                  <a:pt x="0" y="0"/>
                </a:moveTo>
                <a:lnTo>
                  <a:pt x="12640239" y="0"/>
                </a:lnTo>
                <a:lnTo>
                  <a:pt x="12640239" y="11904806"/>
                </a:lnTo>
                <a:lnTo>
                  <a:pt x="0" y="11904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4437773">
            <a:off x="13770320" y="-6241286"/>
            <a:ext cx="12640239" cy="11904807"/>
          </a:xfrm>
          <a:custGeom>
            <a:avLst/>
            <a:gdLst/>
            <a:ahLst/>
            <a:cxnLst/>
            <a:rect r="r" b="b" t="t" l="l"/>
            <a:pathLst>
              <a:path h="11904807" w="12640239">
                <a:moveTo>
                  <a:pt x="0" y="0"/>
                </a:moveTo>
                <a:lnTo>
                  <a:pt x="12640239" y="0"/>
                </a:lnTo>
                <a:lnTo>
                  <a:pt x="12640239" y="11904806"/>
                </a:lnTo>
                <a:lnTo>
                  <a:pt x="0" y="119048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666750" y="666750"/>
            <a:ext cx="14077950" cy="2062247"/>
            <a:chOff x="0" y="0"/>
            <a:chExt cx="18770600" cy="2749662"/>
          </a:xfrm>
        </p:grpSpPr>
        <p:sp>
          <p:nvSpPr>
            <p:cNvPr name="TextBox 4" id="4"/>
            <p:cNvSpPr txBox="true"/>
            <p:nvPr/>
          </p:nvSpPr>
          <p:spPr>
            <a:xfrm rot="0">
              <a:off x="0" y="142875"/>
              <a:ext cx="18770600" cy="1641051"/>
            </a:xfrm>
            <a:prstGeom prst="rect">
              <a:avLst/>
            </a:prstGeom>
          </p:spPr>
          <p:txBody>
            <a:bodyPr anchor="t" rtlCol="false" tIns="0" lIns="0" bIns="0" rIns="0">
              <a:spAutoFit/>
            </a:bodyPr>
            <a:lstStyle/>
            <a:p>
              <a:pPr algn="l" marL="0" indent="0" lvl="0">
                <a:lnSpc>
                  <a:spcPts val="8799"/>
                </a:lnSpc>
              </a:pPr>
              <a:r>
                <a:rPr lang="en-US" sz="8799">
                  <a:solidFill>
                    <a:srgbClr val="00B7C2"/>
                  </a:solidFill>
                  <a:latin typeface="Catchy Mager"/>
                  <a:ea typeface="Catchy Mager"/>
                  <a:cs typeface="Catchy Mager"/>
                  <a:sym typeface="Catchy Mager"/>
                </a:rPr>
                <a:t>CONCLUSION</a:t>
              </a:r>
            </a:p>
          </p:txBody>
        </p:sp>
        <p:sp>
          <p:nvSpPr>
            <p:cNvPr name="TextBox 5" id="5"/>
            <p:cNvSpPr txBox="true"/>
            <p:nvPr/>
          </p:nvSpPr>
          <p:spPr>
            <a:xfrm rot="0">
              <a:off x="0" y="2130537"/>
              <a:ext cx="18770600" cy="619125"/>
            </a:xfrm>
            <a:prstGeom prst="rect">
              <a:avLst/>
            </a:prstGeom>
          </p:spPr>
          <p:txBody>
            <a:bodyPr anchor="t" rtlCol="false" tIns="0" lIns="0" bIns="0" rIns="0">
              <a:spAutoFit/>
            </a:bodyPr>
            <a:lstStyle/>
            <a:p>
              <a:pPr algn="l" marL="0" indent="0" lvl="0">
                <a:lnSpc>
                  <a:spcPts val="3600"/>
                </a:lnSpc>
                <a:spcBef>
                  <a:spcPct val="0"/>
                </a:spcBef>
              </a:pPr>
            </a:p>
          </p:txBody>
        </p:sp>
      </p:grpSp>
      <p:sp>
        <p:nvSpPr>
          <p:cNvPr name="TextBox 6" id="6"/>
          <p:cNvSpPr txBox="true"/>
          <p:nvPr/>
        </p:nvSpPr>
        <p:spPr>
          <a:xfrm rot="0">
            <a:off x="855047" y="2175794"/>
            <a:ext cx="16065276" cy="6850856"/>
          </a:xfrm>
          <a:prstGeom prst="rect">
            <a:avLst/>
          </a:prstGeom>
        </p:spPr>
        <p:txBody>
          <a:bodyPr anchor="t" rtlCol="false" tIns="0" lIns="0" bIns="0" rIns="0">
            <a:spAutoFit/>
          </a:bodyPr>
          <a:lstStyle/>
          <a:p>
            <a:pPr algn="l" marL="607219" indent="-303609" lvl="1">
              <a:lnSpc>
                <a:spcPts val="3656"/>
              </a:lnSpc>
              <a:buFont typeface="Arial"/>
              <a:buChar char="•"/>
            </a:pPr>
            <a:r>
              <a:rPr lang="en-US" sz="2812">
                <a:solidFill>
                  <a:srgbClr val="FFFFFF"/>
                </a:solidFill>
                <a:latin typeface="HK Grotesk Light"/>
                <a:ea typeface="HK Grotesk Light"/>
                <a:cs typeface="HK Grotesk Light"/>
                <a:sym typeface="HK Grotesk Light"/>
              </a:rPr>
              <a:t>The dashboard was created using a structured and systematic data-analysis in power BI.</a:t>
            </a:r>
          </a:p>
          <a:p>
            <a:pPr algn="l">
              <a:lnSpc>
                <a:spcPts val="3656"/>
              </a:lnSpc>
            </a:pPr>
          </a:p>
          <a:p>
            <a:pPr algn="l" marL="607219" indent="-303609" lvl="1">
              <a:lnSpc>
                <a:spcPts val="3656"/>
              </a:lnSpc>
              <a:buFont typeface="Arial"/>
              <a:buChar char="•"/>
            </a:pPr>
            <a:r>
              <a:rPr lang="en-US" sz="2812">
                <a:solidFill>
                  <a:srgbClr val="FFFFFF"/>
                </a:solidFill>
                <a:latin typeface="HK Grotesk Light"/>
                <a:ea typeface="HK Grotesk Light"/>
                <a:cs typeface="HK Grotesk Light"/>
                <a:sym typeface="HK Grotesk Light"/>
              </a:rPr>
              <a:t>This dashboard demonstrates that Artificial Intelligence is a transformative force in digital media, reshaping employment structures, and generating measurable economic value.</a:t>
            </a:r>
          </a:p>
          <a:p>
            <a:pPr algn="l">
              <a:lnSpc>
                <a:spcPts val="3656"/>
              </a:lnSpc>
            </a:pPr>
          </a:p>
          <a:p>
            <a:pPr algn="l" marL="607219" indent="-303609" lvl="1">
              <a:lnSpc>
                <a:spcPts val="3656"/>
              </a:lnSpc>
              <a:buFont typeface="Arial"/>
              <a:buChar char="•"/>
            </a:pPr>
            <a:r>
              <a:rPr lang="en-US" sz="2812">
                <a:solidFill>
                  <a:srgbClr val="FFFFFF"/>
                </a:solidFill>
                <a:latin typeface="HK Grotesk Light"/>
                <a:ea typeface="HK Grotesk Light"/>
                <a:cs typeface="HK Grotesk Light"/>
                <a:sym typeface="HK Grotesk Light"/>
              </a:rPr>
              <a:t>The relevant columns such as country, year, industry, AI adoption rate, revenue rate, top AI tools used, market share o AI companies, regulation status, consumer trust, job loss due to AI, Human AI- collaboration rate and AI -generated content volume.</a:t>
            </a:r>
          </a:p>
          <a:p>
            <a:pPr algn="l">
              <a:lnSpc>
                <a:spcPts val="3656"/>
              </a:lnSpc>
            </a:pPr>
          </a:p>
          <a:p>
            <a:pPr algn="l" marL="607219" indent="-303609" lvl="1">
              <a:lnSpc>
                <a:spcPts val="3656"/>
              </a:lnSpc>
              <a:buFont typeface="Arial"/>
              <a:buChar char="•"/>
            </a:pPr>
            <a:r>
              <a:rPr lang="en-US" sz="2812">
                <a:solidFill>
                  <a:srgbClr val="FFFFFF"/>
                </a:solidFill>
                <a:latin typeface="HK Grotesk Light"/>
                <a:ea typeface="HK Grotesk Light"/>
                <a:cs typeface="HK Grotesk Light"/>
                <a:sym typeface="HK Grotesk Light"/>
              </a:rPr>
              <a:t>Appropriate charts types were chosen based on the nature of the data, they are pie chart, staked area chart, funnel, line chart, cards created using DAX and slicers.</a:t>
            </a:r>
          </a:p>
          <a:p>
            <a:pPr algn="l">
              <a:lnSpc>
                <a:spcPts val="3656"/>
              </a:lnSpc>
            </a:pPr>
          </a:p>
          <a:p>
            <a:pPr algn="l" marL="607219" indent="-303609" lvl="1">
              <a:lnSpc>
                <a:spcPts val="3656"/>
              </a:lnSpc>
              <a:buFont typeface="Arial"/>
              <a:buChar char="•"/>
            </a:pPr>
            <a:r>
              <a:rPr lang="en-US" sz="2812">
                <a:solidFill>
                  <a:srgbClr val="FFFFFF"/>
                </a:solidFill>
                <a:latin typeface="HK Grotesk Light"/>
                <a:ea typeface="HK Grotesk Light"/>
                <a:cs typeface="HK Grotesk Light"/>
                <a:sym typeface="HK Grotesk Light"/>
              </a:rPr>
              <a:t>Overall, the dashboard highlights how AI is adopted across countries and indusries, its impact on revenue, jobs and content creation and the role of regulation and AI tolls in shaping digital media growth.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527442">
            <a:off x="14501108" y="-5422317"/>
            <a:ext cx="10936025" cy="10299747"/>
          </a:xfrm>
          <a:custGeom>
            <a:avLst/>
            <a:gdLst/>
            <a:ahLst/>
            <a:cxnLst/>
            <a:rect r="r" b="b" t="t" l="l"/>
            <a:pathLst>
              <a:path h="10299747" w="10936025">
                <a:moveTo>
                  <a:pt x="0" y="0"/>
                </a:moveTo>
                <a:lnTo>
                  <a:pt x="10936025" y="0"/>
                </a:lnTo>
                <a:lnTo>
                  <a:pt x="10936025" y="10299747"/>
                </a:lnTo>
                <a:lnTo>
                  <a:pt x="0" y="102997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66750" y="809625"/>
            <a:ext cx="8324850" cy="1195069"/>
          </a:xfrm>
          <a:prstGeom prst="rect">
            <a:avLst/>
          </a:prstGeom>
        </p:spPr>
        <p:txBody>
          <a:bodyPr anchor="t" rtlCol="false" tIns="0" lIns="0" bIns="0" rIns="0">
            <a:spAutoFit/>
          </a:bodyPr>
          <a:lstStyle/>
          <a:p>
            <a:pPr algn="l" marL="0" indent="0" lvl="0">
              <a:lnSpc>
                <a:spcPts val="8799"/>
              </a:lnSpc>
            </a:pPr>
            <a:r>
              <a:rPr lang="en-US" sz="8799">
                <a:solidFill>
                  <a:srgbClr val="00B7C2"/>
                </a:solidFill>
                <a:latin typeface="Catchy Mager"/>
                <a:ea typeface="Catchy Mager"/>
                <a:cs typeface="Catchy Mager"/>
                <a:sym typeface="Catchy Mager"/>
              </a:rPr>
              <a:t>SUGGESTIONS</a:t>
            </a:r>
          </a:p>
        </p:txBody>
      </p:sp>
      <p:sp>
        <p:nvSpPr>
          <p:cNvPr name="TextBox 4" id="4"/>
          <p:cNvSpPr txBox="true"/>
          <p:nvPr/>
        </p:nvSpPr>
        <p:spPr>
          <a:xfrm rot="0">
            <a:off x="1028700" y="1985644"/>
            <a:ext cx="16056783" cy="4366487"/>
          </a:xfrm>
          <a:prstGeom prst="rect">
            <a:avLst/>
          </a:prstGeom>
        </p:spPr>
        <p:txBody>
          <a:bodyPr anchor="t" rtlCol="false" tIns="0" lIns="0" bIns="0" rIns="0">
            <a:spAutoFit/>
          </a:bodyPr>
          <a:lstStyle/>
          <a:p>
            <a:pPr algn="l" marL="579063" indent="-289532" lvl="1">
              <a:lnSpc>
                <a:spcPts val="3486"/>
              </a:lnSpc>
              <a:buFont typeface="Arial"/>
              <a:buChar char="•"/>
            </a:pPr>
            <a:r>
              <a:rPr lang="en-US" sz="2682">
                <a:solidFill>
                  <a:srgbClr val="000000"/>
                </a:solidFill>
                <a:latin typeface="HK Grotesk Light"/>
                <a:ea typeface="HK Grotesk Light"/>
                <a:cs typeface="HK Grotesk Light"/>
                <a:sym typeface="HK Grotesk Light"/>
              </a:rPr>
              <a:t>Increase transparency in AI algorithms to build user trust.</a:t>
            </a:r>
          </a:p>
          <a:p>
            <a:pPr algn="l">
              <a:lnSpc>
                <a:spcPts val="3486"/>
              </a:lnSpc>
            </a:pPr>
          </a:p>
          <a:p>
            <a:pPr algn="l" marL="579063" indent="-289532" lvl="1">
              <a:lnSpc>
                <a:spcPts val="3486"/>
              </a:lnSpc>
              <a:buFont typeface="Arial"/>
              <a:buChar char="•"/>
            </a:pPr>
            <a:r>
              <a:rPr lang="en-US" sz="2682">
                <a:solidFill>
                  <a:srgbClr val="000000"/>
                </a:solidFill>
                <a:latin typeface="HK Grotesk Light"/>
                <a:ea typeface="HK Grotesk Light"/>
                <a:cs typeface="HK Grotesk Light"/>
                <a:sym typeface="HK Grotesk Light"/>
              </a:rPr>
              <a:t>Limit over-automation to preserve human creativity and originality.</a:t>
            </a:r>
          </a:p>
          <a:p>
            <a:pPr algn="l">
              <a:lnSpc>
                <a:spcPts val="3486"/>
              </a:lnSpc>
            </a:pPr>
          </a:p>
          <a:p>
            <a:pPr algn="l" marL="579063" indent="-289532" lvl="1">
              <a:lnSpc>
                <a:spcPts val="3486"/>
              </a:lnSpc>
              <a:buFont typeface="Arial"/>
              <a:buChar char="•"/>
            </a:pPr>
            <a:r>
              <a:rPr lang="en-US" sz="2682">
                <a:solidFill>
                  <a:srgbClr val="000000"/>
                </a:solidFill>
                <a:latin typeface="HK Grotesk Light"/>
                <a:ea typeface="HK Grotesk Light"/>
                <a:cs typeface="HK Grotesk Light"/>
                <a:sym typeface="HK Grotesk Light"/>
              </a:rPr>
              <a:t>Strengthen misinformation detection systems to counter fake and manipulated media.</a:t>
            </a:r>
          </a:p>
          <a:p>
            <a:pPr algn="l">
              <a:lnSpc>
                <a:spcPts val="3486"/>
              </a:lnSpc>
            </a:pPr>
          </a:p>
          <a:p>
            <a:pPr algn="l" marL="579063" indent="-289532" lvl="1">
              <a:lnSpc>
                <a:spcPts val="3486"/>
              </a:lnSpc>
              <a:buFont typeface="Arial"/>
              <a:buChar char="•"/>
            </a:pPr>
            <a:r>
              <a:rPr lang="en-US" sz="2682">
                <a:solidFill>
                  <a:srgbClr val="000000"/>
                </a:solidFill>
                <a:latin typeface="HK Grotesk Light"/>
                <a:ea typeface="HK Grotesk Light"/>
                <a:cs typeface="HK Grotesk Light"/>
                <a:sym typeface="HK Grotesk Light"/>
              </a:rPr>
              <a:t>Introduce AI bias audits to ensure fairness in automated media outputs.</a:t>
            </a:r>
          </a:p>
          <a:p>
            <a:pPr algn="l">
              <a:lnSpc>
                <a:spcPts val="3486"/>
              </a:lnSpc>
            </a:pPr>
          </a:p>
          <a:p>
            <a:pPr algn="l" marL="579063" indent="-289532" lvl="1">
              <a:lnSpc>
                <a:spcPts val="3486"/>
              </a:lnSpc>
              <a:buFont typeface="Arial"/>
              <a:buChar char="•"/>
            </a:pPr>
            <a:r>
              <a:rPr lang="en-US" sz="2682">
                <a:solidFill>
                  <a:srgbClr val="000000"/>
                </a:solidFill>
                <a:latin typeface="HK Grotesk Light"/>
                <a:ea typeface="HK Grotesk Light"/>
                <a:cs typeface="HK Grotesk Light"/>
                <a:sym typeface="HK Grotesk Light"/>
              </a:rPr>
              <a:t>Mitigating AI drawbacks in digital media requires ethical governance, transparency, workforce, adaptation and responsible technological innovations.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400000">
            <a:off x="-9558698" y="-5455141"/>
            <a:ext cx="13768775" cy="12967682"/>
          </a:xfrm>
          <a:custGeom>
            <a:avLst/>
            <a:gdLst/>
            <a:ahLst/>
            <a:cxnLst/>
            <a:rect r="r" b="b" t="t" l="l"/>
            <a:pathLst>
              <a:path h="12967682" w="13768775">
                <a:moveTo>
                  <a:pt x="13768774" y="0"/>
                </a:moveTo>
                <a:lnTo>
                  <a:pt x="0" y="0"/>
                </a:lnTo>
                <a:lnTo>
                  <a:pt x="0" y="12967682"/>
                </a:lnTo>
                <a:lnTo>
                  <a:pt x="13768774" y="12967682"/>
                </a:lnTo>
                <a:lnTo>
                  <a:pt x="1376877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898733" y="893691"/>
            <a:ext cx="6360567" cy="8364609"/>
            <a:chOff x="0" y="0"/>
            <a:chExt cx="1632615" cy="2147007"/>
          </a:xfrm>
        </p:grpSpPr>
        <p:sp>
          <p:nvSpPr>
            <p:cNvPr name="Freeform 4" id="4"/>
            <p:cNvSpPr/>
            <p:nvPr/>
          </p:nvSpPr>
          <p:spPr>
            <a:xfrm flipH="false" flipV="false" rot="0">
              <a:off x="0" y="0"/>
              <a:ext cx="1632615" cy="2147007"/>
            </a:xfrm>
            <a:custGeom>
              <a:avLst/>
              <a:gdLst/>
              <a:ahLst/>
              <a:cxnLst/>
              <a:rect r="r" b="b" t="t" l="l"/>
              <a:pathLst>
                <a:path h="2147007" w="1632615">
                  <a:moveTo>
                    <a:pt x="48687" y="0"/>
                  </a:moveTo>
                  <a:lnTo>
                    <a:pt x="1583928" y="0"/>
                  </a:lnTo>
                  <a:cubicBezTo>
                    <a:pt x="1596841" y="0"/>
                    <a:pt x="1609224" y="5130"/>
                    <a:pt x="1618355" y="14260"/>
                  </a:cubicBezTo>
                  <a:cubicBezTo>
                    <a:pt x="1627485" y="23391"/>
                    <a:pt x="1632615" y="35774"/>
                    <a:pt x="1632615" y="48687"/>
                  </a:cubicBezTo>
                  <a:lnTo>
                    <a:pt x="1632615" y="2098320"/>
                  </a:lnTo>
                  <a:cubicBezTo>
                    <a:pt x="1632615" y="2125209"/>
                    <a:pt x="1610817" y="2147007"/>
                    <a:pt x="1583928" y="2147007"/>
                  </a:cubicBezTo>
                  <a:lnTo>
                    <a:pt x="48687" y="2147007"/>
                  </a:lnTo>
                  <a:cubicBezTo>
                    <a:pt x="21798" y="2147007"/>
                    <a:pt x="0" y="2125209"/>
                    <a:pt x="0" y="2098320"/>
                  </a:cubicBezTo>
                  <a:lnTo>
                    <a:pt x="0" y="48687"/>
                  </a:lnTo>
                  <a:cubicBezTo>
                    <a:pt x="0" y="21798"/>
                    <a:pt x="21798" y="0"/>
                    <a:pt x="48687" y="0"/>
                  </a:cubicBezTo>
                  <a:close/>
                </a:path>
              </a:pathLst>
            </a:custGeom>
            <a:blipFill>
              <a:blip r:embed="rId4"/>
              <a:stretch>
                <a:fillRect l="-20607" t="0" r="-20607" b="0"/>
              </a:stretch>
            </a:blipFill>
            <a:ln w="19050" cap="rnd">
              <a:solidFill>
                <a:srgbClr val="FFFFFF"/>
              </a:solidFill>
              <a:prstDash val="solid"/>
              <a:round/>
            </a:ln>
          </p:spPr>
        </p:sp>
      </p:grpSp>
      <p:sp>
        <p:nvSpPr>
          <p:cNvPr name="TextBox 5" id="5"/>
          <p:cNvSpPr txBox="true"/>
          <p:nvPr/>
        </p:nvSpPr>
        <p:spPr>
          <a:xfrm rot="0">
            <a:off x="1625505" y="538485"/>
            <a:ext cx="5927820" cy="952500"/>
          </a:xfrm>
          <a:prstGeom prst="rect">
            <a:avLst/>
          </a:prstGeom>
        </p:spPr>
        <p:txBody>
          <a:bodyPr anchor="t" rtlCol="false" tIns="0" lIns="0" bIns="0" rIns="0">
            <a:spAutoFit/>
          </a:bodyPr>
          <a:lstStyle/>
          <a:p>
            <a:pPr algn="l" marL="0" indent="0" lvl="0">
              <a:lnSpc>
                <a:spcPts val="7419"/>
              </a:lnSpc>
              <a:spcBef>
                <a:spcPct val="0"/>
              </a:spcBef>
            </a:pPr>
            <a:r>
              <a:rPr lang="en-US" sz="6183">
                <a:solidFill>
                  <a:srgbClr val="00B7C2"/>
                </a:solidFill>
                <a:latin typeface="Catchy Mager"/>
                <a:ea typeface="Catchy Mager"/>
                <a:cs typeface="Catchy Mager"/>
                <a:sym typeface="Catchy Mager"/>
              </a:rPr>
              <a:t>REFERENCE</a:t>
            </a:r>
          </a:p>
        </p:txBody>
      </p:sp>
      <p:sp>
        <p:nvSpPr>
          <p:cNvPr name="TextBox 6" id="6"/>
          <p:cNvSpPr txBox="true"/>
          <p:nvPr/>
        </p:nvSpPr>
        <p:spPr>
          <a:xfrm rot="0">
            <a:off x="1625505" y="1751177"/>
            <a:ext cx="8380885" cy="1868784"/>
          </a:xfrm>
          <a:prstGeom prst="rect">
            <a:avLst/>
          </a:prstGeom>
        </p:spPr>
        <p:txBody>
          <a:bodyPr anchor="t" rtlCol="false" tIns="0" lIns="0" bIns="0" rIns="0">
            <a:spAutoFit/>
          </a:bodyPr>
          <a:lstStyle/>
          <a:p>
            <a:pPr algn="l" marL="615674" indent="-307837" lvl="1">
              <a:lnSpc>
                <a:spcPts val="3707"/>
              </a:lnSpc>
              <a:buFont typeface="Arial"/>
              <a:buChar char="•"/>
            </a:pPr>
            <a:r>
              <a:rPr lang="en-US" sz="2851">
                <a:solidFill>
                  <a:srgbClr val="000000"/>
                </a:solidFill>
                <a:latin typeface="HK Grotesk Light"/>
                <a:ea typeface="HK Grotesk Light"/>
                <a:cs typeface="HK Grotesk Light"/>
                <a:sym typeface="HK Grotesk Light"/>
              </a:rPr>
              <a:t>Kaggle : The Impact of AI in Digital Media</a:t>
            </a:r>
          </a:p>
          <a:p>
            <a:pPr algn="l">
              <a:lnSpc>
                <a:spcPts val="3707"/>
              </a:lnSpc>
            </a:pPr>
            <a:r>
              <a:rPr lang="en-US" sz="2851">
                <a:solidFill>
                  <a:srgbClr val="000000"/>
                </a:solidFill>
                <a:latin typeface="HK Grotesk Light"/>
                <a:ea typeface="HK Grotesk Light"/>
                <a:cs typeface="HK Grotesk Light"/>
                <a:sym typeface="HK Grotesk Light"/>
              </a:rPr>
              <a:t>                  https://www.kaggle.com</a:t>
            </a:r>
          </a:p>
          <a:p>
            <a:pPr algn="l">
              <a:lnSpc>
                <a:spcPts val="3707"/>
              </a:lnSpc>
            </a:pPr>
          </a:p>
          <a:p>
            <a:pPr algn="l" marL="615674" indent="-307837" lvl="1">
              <a:lnSpc>
                <a:spcPts val="3707"/>
              </a:lnSpc>
              <a:buFont typeface="Arial"/>
              <a:buChar char="•"/>
            </a:pPr>
            <a:r>
              <a:rPr lang="en-US" sz="2851">
                <a:solidFill>
                  <a:srgbClr val="000000"/>
                </a:solidFill>
                <a:latin typeface="HK Grotesk Light"/>
                <a:ea typeface="HK Grotesk Light"/>
                <a:cs typeface="HK Grotesk Light"/>
                <a:sym typeface="HK Grotesk Light"/>
              </a:rPr>
              <a:t>Microsoft Excel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DAG74ueYGbg</dc:identifier>
  <dcterms:modified xsi:type="dcterms:W3CDTF">2011-08-01T06:04:30Z</dcterms:modified>
  <cp:revision>1</cp:revision>
  <dc:title>Exploring the Future of</dc:title>
</cp:coreProperties>
</file>